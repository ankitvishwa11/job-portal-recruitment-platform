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81f1938-cfda-3cb7-fdd2-8d948842dd87}">
          <p14:sldIdLst>
            <p14:sldId id="256"/>
            <p14:sldId id="257"/>
            <p14:sldId id="258"/>
          </p14:sldIdLst>
        </p14:section>
        <p14:section name="Design" id="{f9059a0d-57ef-f36f-6c88-057815569d01}">
          <p14:sldIdLst>
            <p14:sldId id="259"/>
            <p14:sldId id="260"/>
            <p14:sldId id="261"/>
            <p14:sldId id="262"/>
          </p14:sldIdLst>
        </p14:section>
        <p14:section name="Workflow &amp; Security" id="{c68bdd90-5e76-0811-a592-c41dca856101}">
          <p14:sldIdLst>
            <p14:sldId id="263"/>
            <p14:sldId id="264"/>
          </p14:sldIdLst>
        </p14:section>
        <p14:section name="Evaluation" id="{391f05bd-74c1-2774-4f99-30a004d20cc5}">
          <p14:sldIdLst>
            <p14:sldId id="265"/>
            <p14:sldId id="266"/>
          </p14:sldIdLst>
        </p14:section>
        <p14:section name="Wrap-up" id="{7ea10254-bb67-0d90-e451-bab315a7767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full-stack recruitment platform built with React, Node/Express and MongoDB, for three roles — Job Seeker, Recruiter, Administrator.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in one slide: three roles, six entities, five statuses.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fragmented tools make records inconsistent and statuses unclear. The platform consolidates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Frontend: React 19 + Bootstrap 5. Backend: Node 24 + Express 5. Data: MongoDB 8/Atlas with Mongoose. Security: JWT and bcryptjs. Uploads: Multer. Docs and environment: Swagger/OpenAPI 3.0 and Docker Compose.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Routes define paths; middleware handles auth and validation; controllers translate requests; services enforce business rules such as job ownership, duplicate-application prevention and valid status transitions; models talk to MongoDB.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role has its own permitted actions. Access rules must stop one candidate seeing another's private application data, and recruiters only manage their own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modules cover the whole workflow. Jobs search supports keyword, location, work type, salary range and pagination.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Statuses: Pending, Reviewed, Shortlisted, Rejected, Hired. Business rules live in the service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controls are part of the specified design; they should be confirmed against the running code before being treated as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project materials contain no test logs, response times or deployment record, so no pass/fail results are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 disk storage suits a demo but not horizontally scaled hosting. Production also needs secrets handling, backups, monitoring and privacy policies.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References: React, Node.js, Express, MongoDB, Bootstrap, Mongoose, OpenAPI and Docker official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B.TECH INDUSTRIAL TRAINING REPORT  |  2026–27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Portal / Recruitment Platform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full-stack web application connecting job seekers, recruiters and administrators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Ankit Vishwakarma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Roll No. 1230440011  ·  B.Tech (CSE)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Babu Banarasi Das University, Lucknow</a:t>
            </a:r>
            <a:endParaRPr lang="en-US" sz="1400" dirty="0"/>
          </a:p>
        </p:txBody>
      </p:sp>
      <p:sp>
        <p:nvSpPr>
          <p:cNvPr id="6" name="spacer"/>
          <p:cNvSpPr/>
          <p:nvPr/>
        </p:nvSpPr>
        <p:spPr>
          <a:xfrm>
            <a:off x="6035040" y="0"/>
            <a:ext cx="9144" cy="9144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iconbg-job-seeker"/>
          <p:cNvSpPr/>
          <p:nvPr/>
        </p:nvSpPr>
        <p:spPr>
          <a:xfrm>
            <a:off x="6583680" y="822960"/>
            <a:ext cx="1371600" cy="13716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8" name="icon-job-seeker" descr="job-see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4" y="1152144"/>
            <a:ext cx="713232" cy="713232"/>
          </a:xfrm>
          <a:prstGeom prst="rect">
            <a:avLst/>
          </a:prstGeom>
        </p:spPr>
      </p:pic>
      <p:sp>
        <p:nvSpPr>
          <p:cNvPr id="9" name="iconbg-recruiter"/>
          <p:cNvSpPr/>
          <p:nvPr/>
        </p:nvSpPr>
        <p:spPr>
          <a:xfrm>
            <a:off x="7406640" y="1920240"/>
            <a:ext cx="1371600" cy="13716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con-recruiter" descr="recrui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4" y="2249424"/>
            <a:ext cx="713232" cy="713232"/>
          </a:xfrm>
          <a:prstGeom prst="rect">
            <a:avLst/>
          </a:prstGeom>
        </p:spPr>
      </p:pic>
      <p:sp>
        <p:nvSpPr>
          <p:cNvPr id="11" name="iconbg-admin"/>
          <p:cNvSpPr/>
          <p:nvPr/>
        </p:nvSpPr>
        <p:spPr>
          <a:xfrm>
            <a:off x="6400800" y="3063240"/>
            <a:ext cx="1371600" cy="1371600"/>
          </a:xfrm>
          <a:prstGeom prst="ellipse">
            <a:avLst/>
          </a:prstGeom>
          <a:solidFill>
            <a:srgbClr val="5FB3B3"/>
          </a:solidFill>
          <a:ln w="12700">
            <a:solidFill>
              <a:srgbClr val="5FB3B3"/>
            </a:solidFill>
            <a:prstDash val="solid"/>
          </a:ln>
        </p:spPr>
      </p:sp>
      <p:pic>
        <p:nvPicPr>
          <p:cNvPr id="12" name="icon-admin" descr="adm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339242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Job discovery, applications and hiring decisions managed in one system instead of scattered emails and spreadsheets.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146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React.js 19 + Bootstrap 5 frontend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Node.js 24 + Express.js 5 REST 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MongoDB 8 / Atlas for data storage</a:t>
            </a:r>
            <a:endParaRPr lang="en-US" sz="1500" dirty="0"/>
          </a:p>
        </p:txBody>
      </p:sp>
      <p:sp>
        <p:nvSpPr>
          <p:cNvPr id="5" name="stat-card-0"/>
          <p:cNvSpPr/>
          <p:nvPr/>
        </p:nvSpPr>
        <p:spPr>
          <a:xfrm>
            <a:off x="5303520" y="1325880"/>
            <a:ext cx="338328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40680" y="1325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325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user roles: Job Seeker, Recruiter, Administrator</a:t>
            </a:r>
            <a:endParaRPr lang="en-US" sz="1300" dirty="0"/>
          </a:p>
        </p:txBody>
      </p:sp>
      <p:sp>
        <p:nvSpPr>
          <p:cNvPr id="8" name="stat-card-1"/>
          <p:cNvSpPr/>
          <p:nvPr/>
        </p:nvSpPr>
        <p:spPr>
          <a:xfrm>
            <a:off x="5303520" y="2423160"/>
            <a:ext cx="338328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0680" y="24231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data entities: User, Company, Job, Application, SavedJob, Notification</a:t>
            </a:r>
            <a:endParaRPr lang="en-US" sz="1300" dirty="0"/>
          </a:p>
        </p:txBody>
      </p:sp>
      <p:sp>
        <p:nvSpPr>
          <p:cNvPr id="11" name="stat-card-2"/>
          <p:cNvSpPr/>
          <p:nvPr/>
        </p:nvSpPr>
        <p:spPr>
          <a:xfrm>
            <a:off x="5303520" y="3520440"/>
            <a:ext cx="338328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40680" y="3520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application statuses from Pending to Hired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Why a Recruitment Platform?</a:t>
            </a:r>
            <a:endParaRPr lang="en-US" sz="3200" dirty="0"/>
          </a:p>
        </p:txBody>
      </p:sp>
      <p:sp>
        <p:nvSpPr>
          <p:cNvPr id="3" name="problem-card"/>
          <p:cNvSpPr/>
          <p:nvPr/>
        </p:nvSpPr>
        <p:spPr>
          <a:xfrm>
            <a:off x="457200" y="1280160"/>
            <a:ext cx="397764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problem"/>
          <p:cNvSpPr/>
          <p:nvPr/>
        </p:nvSpPr>
        <p:spPr>
          <a:xfrm>
            <a:off x="685800" y="1481328"/>
            <a:ext cx="548640" cy="54864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5" name="icon-problem" descr="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613002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81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8600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Vacancies and applications spread across emails and spreadsheets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Inconsistent candidate records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Candidates unsure of application status</a:t>
            </a:r>
            <a:endParaRPr lang="en-US" sz="1500" dirty="0"/>
          </a:p>
        </p:txBody>
      </p:sp>
      <p:sp>
        <p:nvSpPr>
          <p:cNvPr id="8" name="approach-card"/>
          <p:cNvSpPr/>
          <p:nvPr/>
        </p:nvSpPr>
        <p:spPr>
          <a:xfrm>
            <a:off x="4709160" y="1280160"/>
            <a:ext cx="3977640" cy="3291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iconbg-approach"/>
          <p:cNvSpPr/>
          <p:nvPr/>
        </p:nvSpPr>
        <p:spPr>
          <a:xfrm>
            <a:off x="4937760" y="1481328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con-approach" descr="approa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434" y="1613002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481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8600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One web platform for the full recruitment workflow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Separate permissions for each of three roles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Browser UI + backend API + database working together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tech-card-0"/>
          <p:cNvSpPr/>
          <p:nvPr/>
        </p:nvSpPr>
        <p:spPr>
          <a:xfrm>
            <a:off x="457200" y="1280160"/>
            <a:ext cx="256032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tech-0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5" name="icon-tech-0" descr="tech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58374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React.js 19 + Bootstrap 5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591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Reusable components, responsive layout</a:t>
            </a:r>
            <a:endParaRPr lang="en-US" sz="1300" dirty="0"/>
          </a:p>
        </p:txBody>
      </p:sp>
      <p:sp>
        <p:nvSpPr>
          <p:cNvPr id="8" name="tech-card-1"/>
          <p:cNvSpPr/>
          <p:nvPr/>
        </p:nvSpPr>
        <p:spPr>
          <a:xfrm>
            <a:off x="3291840" y="1280160"/>
            <a:ext cx="256032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bg-tech-1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10" name="icon-tech-1" descr="tech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421" y="158374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Node.js 24 + Express.js 5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3591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REST API routes and middleware</a:t>
            </a:r>
            <a:endParaRPr lang="en-US" sz="1300" dirty="0"/>
          </a:p>
        </p:txBody>
      </p:sp>
      <p:sp>
        <p:nvSpPr>
          <p:cNvPr id="13" name="tech-card-2"/>
          <p:cNvSpPr/>
          <p:nvPr/>
        </p:nvSpPr>
        <p:spPr>
          <a:xfrm>
            <a:off x="6126480" y="1280160"/>
            <a:ext cx="256032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bg-tech-2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15" name="icon-tech-2" descr="tech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061" y="158374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MongoDB 8 + Mongoose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3591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Document storage, schemas, indexes</a:t>
            </a:r>
            <a:endParaRPr lang="en-US" sz="1300" dirty="0"/>
          </a:p>
        </p:txBody>
      </p:sp>
      <p:sp>
        <p:nvSpPr>
          <p:cNvPr id="18" name="tech-card-3"/>
          <p:cNvSpPr/>
          <p:nvPr/>
        </p:nvSpPr>
        <p:spPr>
          <a:xfrm>
            <a:off x="457200" y="3063240"/>
            <a:ext cx="256032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bg-tech-3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20" name="icon-tech-3" descr="tech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36682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JWT + bcryptjs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4142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Token login and password hashing</a:t>
            </a:r>
            <a:endParaRPr lang="en-US" sz="1300" dirty="0"/>
          </a:p>
        </p:txBody>
      </p:sp>
      <p:sp>
        <p:nvSpPr>
          <p:cNvPr id="23" name="tech-card-4"/>
          <p:cNvSpPr/>
          <p:nvPr/>
        </p:nvSpPr>
        <p:spPr>
          <a:xfrm>
            <a:off x="3291840" y="3063240"/>
            <a:ext cx="256032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bg-tech-4"/>
          <p:cNvSpPr/>
          <p:nvPr/>
        </p:nvSpPr>
        <p:spPr>
          <a:xfrm>
            <a:off x="3474720" y="3246120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25" name="icon-tech-4" descr="tech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421" y="3366821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7472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Multer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4142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Controlled resume uploads</a:t>
            </a:r>
            <a:endParaRPr lang="en-US" sz="1300" dirty="0"/>
          </a:p>
        </p:txBody>
      </p:sp>
      <p:sp>
        <p:nvSpPr>
          <p:cNvPr id="28" name="tech-card-5"/>
          <p:cNvSpPr/>
          <p:nvPr/>
        </p:nvSpPr>
        <p:spPr>
          <a:xfrm>
            <a:off x="6126480" y="3063240"/>
            <a:ext cx="256032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bg-tech-5"/>
          <p:cNvSpPr/>
          <p:nvPr/>
        </p:nvSpPr>
        <p:spPr>
          <a:xfrm>
            <a:off x="6309360" y="3246120"/>
            <a:ext cx="502920" cy="50292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30" name="icon-tech-5" descr="tech-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061" y="3366821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30936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Swagger + Docker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309360" y="4142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OpenAPI docs, repeatable local setup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Layered Architecture</a:t>
            </a:r>
            <a:endParaRPr lang="en-US" sz="3200" dirty="0"/>
          </a:p>
        </p:txBody>
      </p:sp>
      <p:sp>
        <p:nvSpPr>
          <p:cNvPr id="3" name="layer-0"/>
          <p:cNvSpPr/>
          <p:nvPr/>
        </p:nvSpPr>
        <p:spPr>
          <a:xfrm>
            <a:off x="457200" y="1325880"/>
            <a:ext cx="1188720" cy="9144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React UI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Role-specific pages, responsive layout</a:t>
            </a:r>
            <a:endParaRPr lang="en-US" sz="1200" dirty="0"/>
          </a:p>
        </p:txBody>
      </p:sp>
      <p:sp>
        <p:nvSpPr>
          <p:cNvPr id="6" name="arrow-0"/>
          <p:cNvSpPr/>
          <p:nvPr/>
        </p:nvSpPr>
        <p:spPr>
          <a:xfrm>
            <a:off x="1655064" y="1783080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layer-1"/>
          <p:cNvSpPr/>
          <p:nvPr/>
        </p:nvSpPr>
        <p:spPr>
          <a:xfrm>
            <a:off x="1865376" y="1325880"/>
            <a:ext cx="1188720" cy="9144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65376" y="1325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Routes &amp; Middleware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865376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API paths, auth, validation</a:t>
            </a:r>
            <a:endParaRPr lang="en-US" sz="1200" dirty="0"/>
          </a:p>
        </p:txBody>
      </p:sp>
      <p:sp>
        <p:nvSpPr>
          <p:cNvPr id="10" name="arrow-1"/>
          <p:cNvSpPr/>
          <p:nvPr/>
        </p:nvSpPr>
        <p:spPr>
          <a:xfrm>
            <a:off x="3063240" y="1783080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layer-2"/>
          <p:cNvSpPr/>
          <p:nvPr/>
        </p:nvSpPr>
        <p:spPr>
          <a:xfrm>
            <a:off x="3273552" y="1325880"/>
            <a:ext cx="1188720" cy="9144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73552" y="1325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Controllers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73552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Turn HTTP requests into operations</a:t>
            </a:r>
            <a:endParaRPr lang="en-US" sz="1200" dirty="0"/>
          </a:p>
        </p:txBody>
      </p:sp>
      <p:sp>
        <p:nvSpPr>
          <p:cNvPr id="14" name="arrow-2"/>
          <p:cNvSpPr/>
          <p:nvPr/>
        </p:nvSpPr>
        <p:spPr>
          <a:xfrm>
            <a:off x="4471416" y="1783080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layer-3"/>
          <p:cNvSpPr/>
          <p:nvPr/>
        </p:nvSpPr>
        <p:spPr>
          <a:xfrm>
            <a:off x="4681728" y="1325880"/>
            <a:ext cx="1188720" cy="9144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81728" y="1325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Services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81728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Business rules, ownership checks</a:t>
            </a:r>
            <a:endParaRPr lang="en-US" sz="1200" dirty="0"/>
          </a:p>
        </p:txBody>
      </p:sp>
      <p:sp>
        <p:nvSpPr>
          <p:cNvPr id="18" name="arrow-3"/>
          <p:cNvSpPr/>
          <p:nvPr/>
        </p:nvSpPr>
        <p:spPr>
          <a:xfrm>
            <a:off x="5879592" y="1783080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layer-4"/>
          <p:cNvSpPr/>
          <p:nvPr/>
        </p:nvSpPr>
        <p:spPr>
          <a:xfrm>
            <a:off x="6089904" y="1325880"/>
            <a:ext cx="1188720" cy="9144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89904" y="1325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Models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089904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Mongoose schemas and indexes</a:t>
            </a:r>
            <a:endParaRPr lang="en-US" sz="1200" dirty="0"/>
          </a:p>
        </p:txBody>
      </p:sp>
      <p:sp>
        <p:nvSpPr>
          <p:cNvPr id="22" name="arrow-4"/>
          <p:cNvSpPr/>
          <p:nvPr/>
        </p:nvSpPr>
        <p:spPr>
          <a:xfrm>
            <a:off x="7287768" y="1783080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layer-5"/>
          <p:cNvSpPr/>
          <p:nvPr/>
        </p:nvSpPr>
        <p:spPr>
          <a:xfrm>
            <a:off x="7498080" y="1325880"/>
            <a:ext cx="1188720" cy="9144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1325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MongoDB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Users, jobs, applications</a:t>
            </a:r>
            <a:endParaRPr lang="en-US" sz="1200" dirty="0"/>
          </a:p>
        </p:txBody>
      </p:sp>
      <p:sp>
        <p:nvSpPr>
          <p:cNvPr id="26" name="hosting-card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iconbg-hosting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28" name="icon-hosting" descr="hos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4063594"/>
            <a:ext cx="285293" cy="285293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371600" y="38404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Proposed hosting: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Netlify (frontend)  ·  Render (API)  ·  MongoDB Atlas (database)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Roles, Three Workflows</a:t>
            </a:r>
            <a:endParaRPr lang="en-US" sz="3200" dirty="0"/>
          </a:p>
        </p:txBody>
      </p:sp>
      <p:sp>
        <p:nvSpPr>
          <p:cNvPr id="3" name="role-card-0"/>
          <p:cNvSpPr/>
          <p:nvPr/>
        </p:nvSpPr>
        <p:spPr>
          <a:xfrm>
            <a:off x="457200" y="1280160"/>
            <a:ext cx="256032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role-0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5" name="icon-role-0" descr="role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16166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63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Seeker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774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Maintain profile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Search and filter jobs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Save jobs, apply with resume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Track application status</a:t>
            </a:r>
            <a:endParaRPr lang="en-US" sz="1400" dirty="0"/>
          </a:p>
        </p:txBody>
      </p:sp>
      <p:sp>
        <p:nvSpPr>
          <p:cNvPr id="8" name="role-card-1"/>
          <p:cNvSpPr/>
          <p:nvPr/>
        </p:nvSpPr>
        <p:spPr>
          <a:xfrm>
            <a:off x="3291840" y="1280160"/>
            <a:ext cx="256032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bg-role-1"/>
          <p:cNvSpPr/>
          <p:nvPr/>
        </p:nvSpPr>
        <p:spPr>
          <a:xfrm>
            <a:off x="3474720" y="1463040"/>
            <a:ext cx="640080" cy="64008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10" name="icon-role-1" descr="role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339" y="16166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51960" y="1463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3774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Maintain company details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Create and publish vacancies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applicants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Update candidate status</a:t>
            </a:r>
            <a:endParaRPr lang="en-US" sz="1400" dirty="0"/>
          </a:p>
        </p:txBody>
      </p:sp>
      <p:sp>
        <p:nvSpPr>
          <p:cNvPr id="13" name="role-card-2"/>
          <p:cNvSpPr/>
          <p:nvPr/>
        </p:nvSpPr>
        <p:spPr>
          <a:xfrm>
            <a:off x="6126480" y="1280160"/>
            <a:ext cx="256032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bg-role-2"/>
          <p:cNvSpPr/>
          <p:nvPr/>
        </p:nvSpPr>
        <p:spPr>
          <a:xfrm>
            <a:off x="6309360" y="146304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5" name="icon-role-2" descr="role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79" y="16166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86600" y="1463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3774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 or deactivate accounts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Moderate job listings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aggregate activity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Core Modules</a:t>
            </a:r>
            <a:endParaRPr lang="en-US" sz="3200" dirty="0"/>
          </a:p>
        </p:txBody>
      </p:sp>
      <p:sp>
        <p:nvSpPr>
          <p:cNvPr id="3" name="module-card-0"/>
          <p:cNvSpPr/>
          <p:nvPr/>
        </p:nvSpPr>
        <p:spPr>
          <a:xfrm>
            <a:off x="457200" y="1280160"/>
            <a:ext cx="25603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module-0"/>
          <p:cNvSpPr/>
          <p:nvPr/>
        </p:nvSpPr>
        <p:spPr>
          <a:xfrm>
            <a:off x="594360" y="1463040"/>
            <a:ext cx="594360" cy="59436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5" name="icon-module-0" descr="module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06" y="160568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35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Auth &amp; Users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Login, roles, profiles</a:t>
            </a:r>
            <a:endParaRPr lang="en-US" sz="1200" dirty="0"/>
          </a:p>
        </p:txBody>
      </p:sp>
      <p:sp>
        <p:nvSpPr>
          <p:cNvPr id="8" name="module-card-1"/>
          <p:cNvSpPr/>
          <p:nvPr/>
        </p:nvSpPr>
        <p:spPr>
          <a:xfrm>
            <a:off x="3291840" y="1280160"/>
            <a:ext cx="25603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bg-module-1"/>
          <p:cNvSpPr/>
          <p:nvPr/>
        </p:nvSpPr>
        <p:spPr>
          <a:xfrm>
            <a:off x="3429000" y="1463040"/>
            <a:ext cx="594360" cy="59436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10" name="icon-module-1" descr="module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160568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435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Companies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16052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Recruiter company info</a:t>
            </a:r>
            <a:endParaRPr lang="en-US" sz="1200" dirty="0"/>
          </a:p>
        </p:txBody>
      </p:sp>
      <p:sp>
        <p:nvSpPr>
          <p:cNvPr id="13" name="module-card-2"/>
          <p:cNvSpPr/>
          <p:nvPr/>
        </p:nvSpPr>
        <p:spPr>
          <a:xfrm>
            <a:off x="6126480" y="1280160"/>
            <a:ext cx="25603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bg-module-2"/>
          <p:cNvSpPr/>
          <p:nvPr/>
        </p:nvSpPr>
        <p:spPr>
          <a:xfrm>
            <a:off x="6263640" y="1463040"/>
            <a:ext cx="594360" cy="59436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15" name="icon-module-2" descr="module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286" y="160568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95160" y="1435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Job Management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99516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Create, edit, publish, close</a:t>
            </a:r>
            <a:endParaRPr lang="en-US" sz="1200" dirty="0"/>
          </a:p>
        </p:txBody>
      </p:sp>
      <p:sp>
        <p:nvSpPr>
          <p:cNvPr id="18" name="module-card-3"/>
          <p:cNvSpPr/>
          <p:nvPr/>
        </p:nvSpPr>
        <p:spPr>
          <a:xfrm>
            <a:off x="457200" y="2423160"/>
            <a:ext cx="25603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bg-module-3"/>
          <p:cNvSpPr/>
          <p:nvPr/>
        </p:nvSpPr>
        <p:spPr>
          <a:xfrm>
            <a:off x="594360" y="2606040"/>
            <a:ext cx="594360" cy="59436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20" name="icon-module-3" descr="module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06" y="2748686"/>
            <a:ext cx="309067" cy="309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Job Search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325880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Keyword, location, salary, paging</a:t>
            </a:r>
            <a:endParaRPr lang="en-US" sz="1200" dirty="0"/>
          </a:p>
        </p:txBody>
      </p:sp>
      <p:sp>
        <p:nvSpPr>
          <p:cNvPr id="23" name="module-card-4"/>
          <p:cNvSpPr/>
          <p:nvPr/>
        </p:nvSpPr>
        <p:spPr>
          <a:xfrm>
            <a:off x="3291840" y="2423160"/>
            <a:ext cx="25603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bg-module-4"/>
          <p:cNvSpPr/>
          <p:nvPr/>
        </p:nvSpPr>
        <p:spPr>
          <a:xfrm>
            <a:off x="3429000" y="2606040"/>
            <a:ext cx="594360" cy="59436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25" name="icon-module-4" descr="module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646" y="2748686"/>
            <a:ext cx="309067" cy="30906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6052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Saved Jobs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4160520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Personal shortlist</a:t>
            </a:r>
            <a:endParaRPr lang="en-US" sz="1200" dirty="0"/>
          </a:p>
        </p:txBody>
      </p:sp>
      <p:sp>
        <p:nvSpPr>
          <p:cNvPr id="28" name="module-card-5"/>
          <p:cNvSpPr/>
          <p:nvPr/>
        </p:nvSpPr>
        <p:spPr>
          <a:xfrm>
            <a:off x="6126480" y="2423160"/>
            <a:ext cx="25603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bg-module-5"/>
          <p:cNvSpPr/>
          <p:nvPr/>
        </p:nvSpPr>
        <p:spPr>
          <a:xfrm>
            <a:off x="6263640" y="2606040"/>
            <a:ext cx="594360" cy="59436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30" name="icon-module-5" descr="module-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6286" y="2748686"/>
            <a:ext cx="309067" cy="30906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9516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Applications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995160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per user and job</a:t>
            </a:r>
            <a:endParaRPr lang="en-US" sz="1200" dirty="0"/>
          </a:p>
        </p:txBody>
      </p:sp>
      <p:sp>
        <p:nvSpPr>
          <p:cNvPr id="33" name="module-card-6"/>
          <p:cNvSpPr/>
          <p:nvPr/>
        </p:nvSpPr>
        <p:spPr>
          <a:xfrm>
            <a:off x="457200" y="3566160"/>
            <a:ext cx="25603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iconbg-module-6"/>
          <p:cNvSpPr/>
          <p:nvPr/>
        </p:nvSpPr>
        <p:spPr>
          <a:xfrm>
            <a:off x="594360" y="3749040"/>
            <a:ext cx="594360" cy="59436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35" name="icon-module-6" descr="module-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06" y="3891686"/>
            <a:ext cx="309067" cy="309067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325880" y="3721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Applicant Review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1325880" y="4023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Status updates by recruiter</a:t>
            </a:r>
            <a:endParaRPr lang="en-US" sz="1200" dirty="0"/>
          </a:p>
        </p:txBody>
      </p:sp>
      <p:sp>
        <p:nvSpPr>
          <p:cNvPr id="38" name="module-card-7"/>
          <p:cNvSpPr/>
          <p:nvPr/>
        </p:nvSpPr>
        <p:spPr>
          <a:xfrm>
            <a:off x="3291840" y="3566160"/>
            <a:ext cx="25603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iconbg-module-7"/>
          <p:cNvSpPr/>
          <p:nvPr/>
        </p:nvSpPr>
        <p:spPr>
          <a:xfrm>
            <a:off x="3429000" y="3749040"/>
            <a:ext cx="594360" cy="59436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40" name="icon-module-7" descr="module-7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1646" y="3891686"/>
            <a:ext cx="309067" cy="309067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160520" y="3721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Notifications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4160520" y="4023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Per-user, read status</a:t>
            </a:r>
            <a:endParaRPr lang="en-US" sz="1200" dirty="0"/>
          </a:p>
        </p:txBody>
      </p:sp>
      <p:sp>
        <p:nvSpPr>
          <p:cNvPr id="43" name="module-card-8"/>
          <p:cNvSpPr/>
          <p:nvPr/>
        </p:nvSpPr>
        <p:spPr>
          <a:xfrm>
            <a:off x="6126480" y="3566160"/>
            <a:ext cx="25603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iconbg-module-8"/>
          <p:cNvSpPr/>
          <p:nvPr/>
        </p:nvSpPr>
        <p:spPr>
          <a:xfrm>
            <a:off x="6263640" y="3749040"/>
            <a:ext cx="594360" cy="59436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45" name="icon-module-8" descr="module-8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6286" y="3891686"/>
            <a:ext cx="309067" cy="309067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6995160" y="3721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Administration</a:t>
            </a:r>
            <a:endParaRPr lang="en-US" sz="1400" dirty="0"/>
          </a:p>
        </p:txBody>
      </p:sp>
      <p:sp>
        <p:nvSpPr>
          <p:cNvPr id="47" name="Text 36"/>
          <p:cNvSpPr txBox="1"/>
          <p:nvPr/>
        </p:nvSpPr>
        <p:spPr>
          <a:xfrm>
            <a:off x="6995160" y="4023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Moderation and analytics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Application Lifecycle</a:t>
            </a:r>
            <a:endParaRPr lang="en-US" sz="3200" dirty="0"/>
          </a:p>
        </p:txBody>
      </p:sp>
      <p:sp>
        <p:nvSpPr>
          <p:cNvPr id="3" name="status-0"/>
          <p:cNvSpPr/>
          <p:nvPr/>
        </p:nvSpPr>
        <p:spPr>
          <a:xfrm>
            <a:off x="457200" y="1463040"/>
            <a:ext cx="1828800" cy="8229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Pending</a:t>
            </a:r>
            <a:endParaRPr lang="en-US" sz="1800" dirty="0"/>
          </a:p>
        </p:txBody>
      </p:sp>
      <p:sp>
        <p:nvSpPr>
          <p:cNvPr id="5" name="status-arrow-0"/>
          <p:cNvSpPr/>
          <p:nvPr/>
        </p:nvSpPr>
        <p:spPr>
          <a:xfrm>
            <a:off x="2313432" y="1874520"/>
            <a:ext cx="265176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status-1"/>
          <p:cNvSpPr/>
          <p:nvPr/>
        </p:nvSpPr>
        <p:spPr>
          <a:xfrm>
            <a:off x="2606040" y="1463040"/>
            <a:ext cx="1828800" cy="8229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Reviewed</a:t>
            </a:r>
            <a:endParaRPr lang="en-US" sz="1800" dirty="0"/>
          </a:p>
        </p:txBody>
      </p:sp>
      <p:sp>
        <p:nvSpPr>
          <p:cNvPr id="8" name="status-arrow-1"/>
          <p:cNvSpPr/>
          <p:nvPr/>
        </p:nvSpPr>
        <p:spPr>
          <a:xfrm>
            <a:off x="4462272" y="1874520"/>
            <a:ext cx="265176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tatus-2"/>
          <p:cNvSpPr/>
          <p:nvPr/>
        </p:nvSpPr>
        <p:spPr>
          <a:xfrm>
            <a:off x="4754880" y="1463040"/>
            <a:ext cx="1828800" cy="8229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Shortlisted</a:t>
            </a:r>
            <a:endParaRPr lang="en-US" sz="1800" dirty="0"/>
          </a:p>
        </p:txBody>
      </p:sp>
      <p:sp>
        <p:nvSpPr>
          <p:cNvPr id="11" name="status-arrow-2"/>
          <p:cNvSpPr/>
          <p:nvPr/>
        </p:nvSpPr>
        <p:spPr>
          <a:xfrm>
            <a:off x="6611112" y="1874520"/>
            <a:ext cx="265176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status-rejected"/>
          <p:cNvSpPr/>
          <p:nvPr/>
        </p:nvSpPr>
        <p:spPr>
          <a:xfrm>
            <a:off x="6903720" y="1325880"/>
            <a:ext cx="1783080" cy="50292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325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Rejected</a:t>
            </a:r>
            <a:endParaRPr lang="en-US" sz="1600" dirty="0"/>
          </a:p>
        </p:txBody>
      </p:sp>
      <p:sp>
        <p:nvSpPr>
          <p:cNvPr id="14" name="status-hired"/>
          <p:cNvSpPr/>
          <p:nvPr/>
        </p:nvSpPr>
        <p:spPr>
          <a:xfrm>
            <a:off x="6903720" y="1920240"/>
            <a:ext cx="1783080" cy="5029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Hired</a:t>
            </a:r>
            <a:endParaRPr lang="en-US" sz="1600" dirty="0"/>
          </a:p>
        </p:txBody>
      </p:sp>
      <p:sp>
        <p:nvSpPr>
          <p:cNvPr id="16" name="status-arrow-3"/>
          <p:cNvSpPr/>
          <p:nvPr/>
        </p:nvSpPr>
        <p:spPr>
          <a:xfrm>
            <a:off x="6611112" y="1874520"/>
            <a:ext cx="265176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Backend validates every transition; only the owning recruiter can update a status.</a:t>
            </a:r>
            <a:endParaRPr lang="en-US" sz="1500" dirty="0"/>
          </a:p>
        </p:txBody>
      </p:sp>
      <p:sp>
        <p:nvSpPr>
          <p:cNvPr id="18" name="rule-card-0"/>
          <p:cNvSpPr/>
          <p:nvPr/>
        </p:nvSpPr>
        <p:spPr>
          <a:xfrm>
            <a:off x="457200" y="320040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bg-rule-0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20" name="icon-rule-0" descr="rule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3503981"/>
            <a:ext cx="261518" cy="26151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280160" y="3337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Only published, open jobs inside the application window accept applications</a:t>
            </a:r>
            <a:endParaRPr lang="en-US" sz="1300" dirty="0"/>
          </a:p>
        </p:txBody>
      </p:sp>
      <p:sp>
        <p:nvSpPr>
          <p:cNvPr id="22" name="rule-card-1"/>
          <p:cNvSpPr/>
          <p:nvPr/>
        </p:nvSpPr>
        <p:spPr>
          <a:xfrm>
            <a:off x="3291840" y="320040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bg-rule-1"/>
          <p:cNvSpPr/>
          <p:nvPr/>
        </p:nvSpPr>
        <p:spPr>
          <a:xfrm>
            <a:off x="3474720" y="3383280"/>
            <a:ext cx="502920" cy="50292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24" name="icon-rule-1" descr="rule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421" y="3503981"/>
            <a:ext cx="261518" cy="26151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114800" y="3337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Duplicate applications blocked by a unique database index</a:t>
            </a:r>
            <a:endParaRPr lang="en-US" sz="1300" dirty="0"/>
          </a:p>
        </p:txBody>
      </p:sp>
      <p:sp>
        <p:nvSpPr>
          <p:cNvPr id="26" name="rule-card-2"/>
          <p:cNvSpPr/>
          <p:nvPr/>
        </p:nvSpPr>
        <p:spPr>
          <a:xfrm>
            <a:off x="6126480" y="320040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iconbg-rule-2"/>
          <p:cNvSpPr/>
          <p:nvPr/>
        </p:nvSpPr>
        <p:spPr>
          <a:xfrm>
            <a:off x="6309360" y="3383280"/>
            <a:ext cx="502920" cy="50292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28" name="icon-rule-2" descr="rule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061" y="3503981"/>
            <a:ext cx="261518" cy="26151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949440" y="3337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Ownership checked before any job or application change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Security &amp; Data Handling</a:t>
            </a:r>
            <a:endParaRPr lang="en-US" sz="3200" dirty="0"/>
          </a:p>
        </p:txBody>
      </p:sp>
      <p:sp>
        <p:nvSpPr>
          <p:cNvPr id="3" name="iconbg-sec-0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4" name="icon-sec-0" descr="sec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1400861"/>
            <a:ext cx="261518" cy="26151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28016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Password hashing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53619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bcryptjs for stored passwords</a:t>
            </a:r>
            <a:endParaRPr lang="en-US" sz="1300" dirty="0"/>
          </a:p>
        </p:txBody>
      </p:sp>
      <p:sp>
        <p:nvSpPr>
          <p:cNvPr id="7" name="iconbg-sec-1"/>
          <p:cNvSpPr/>
          <p:nvPr/>
        </p:nvSpPr>
        <p:spPr>
          <a:xfrm>
            <a:off x="457200" y="1947672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8" name="icon-sec-1" descr="sec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2068373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94767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Token authentication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20370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Short-lived JWT + HTTP-only refresh cookie</a:t>
            </a:r>
            <a:endParaRPr lang="en-US" sz="1300" dirty="0"/>
          </a:p>
        </p:txBody>
      </p:sp>
      <p:sp>
        <p:nvSpPr>
          <p:cNvPr id="11" name="iconbg-sec-2"/>
          <p:cNvSpPr/>
          <p:nvPr/>
        </p:nvSpPr>
        <p:spPr>
          <a:xfrm>
            <a:off x="457200" y="2615184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12" name="icon-sec-2" descr="sec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2735885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61518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Role-based access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287121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RBAC plus ownership checks</a:t>
            </a:r>
            <a:endParaRPr lang="en-US" sz="1300" dirty="0"/>
          </a:p>
        </p:txBody>
      </p:sp>
      <p:sp>
        <p:nvSpPr>
          <p:cNvPr id="15" name="iconbg-sec-3"/>
          <p:cNvSpPr/>
          <p:nvPr/>
        </p:nvSpPr>
        <p:spPr>
          <a:xfrm>
            <a:off x="457200" y="3282696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16" name="icon-sec-3" descr="sec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3403397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28269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Request protection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353872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Helmet, CORS allowlist, rate limiting</a:t>
            </a:r>
            <a:endParaRPr lang="en-US" sz="1300" dirty="0"/>
          </a:p>
        </p:txBody>
      </p:sp>
      <p:sp>
        <p:nvSpPr>
          <p:cNvPr id="19" name="iconbg-sec-4"/>
          <p:cNvSpPr/>
          <p:nvPr/>
        </p:nvSpPr>
        <p:spPr>
          <a:xfrm>
            <a:off x="457200" y="3950208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20" name="icon-sec-4" descr="sec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4070909"/>
            <a:ext cx="261518" cy="26151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43000" y="395020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Input validation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42062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Requests validated before processing</a:t>
            </a:r>
            <a:endParaRPr lang="en-US" sz="1300" dirty="0"/>
          </a:p>
        </p:txBody>
      </p:sp>
      <p:sp>
        <p:nvSpPr>
          <p:cNvPr id="23" name="resume-panel"/>
          <p:cNvSpPr/>
          <p:nvPr/>
        </p:nvSpPr>
        <p:spPr>
          <a:xfrm>
            <a:off x="5577840" y="1280160"/>
            <a:ext cx="3108960" cy="3291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85216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RESUME UPLOADS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5852160" y="1828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MB</a:t>
            </a:r>
            <a:endParaRPr lang="en-US" sz="4800" dirty="0"/>
          </a:p>
        </p:txBody>
      </p:sp>
      <p:sp>
        <p:nvSpPr>
          <p:cNvPr id="26" name="Text 19"/>
          <p:cNvSpPr txBox="1"/>
          <p:nvPr/>
        </p:nvSpPr>
        <p:spPr>
          <a:xfrm>
            <a:off x="585216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maximum file size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852160" y="31089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PDF or DOCX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Filenames never used as storage paths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Download only for authorised users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Verification Plan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Expected behaviour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Evidence needed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8B8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</a:rPr>
                        <a:t>Role permissions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Each role performs only permitted actions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Positive and negative API tests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</a:rPr>
                        <a:t>Job search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Filters combine with pagination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Sample data and boundary tests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</a:rPr>
                        <a:t>Applications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Duplicate applications rejected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Index and duplicate-submit test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</a:rPr>
                        <a:t>Resume handling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Only allowed file types and sizes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Upload and access-control tests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</a:rPr>
                        <a:t>Status lifecycle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Only valid transitions allowed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Transition and ownership tests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</a:rPr>
                        <a:t>API documentation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Swagger UI at /api/docs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Check running endpoint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ooling-card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Planned tooling: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Jest, Supertest, mongodb-memory-server. Test results will be recorded from real runs.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Limitations &amp; Future Scope</a:t>
            </a:r>
            <a:endParaRPr lang="en-US" sz="3200" dirty="0"/>
          </a:p>
        </p:txBody>
      </p:sp>
      <p:sp>
        <p:nvSpPr>
          <p:cNvPr id="3" name="limits-card"/>
          <p:cNvSpPr/>
          <p:nvPr/>
        </p:nvSpPr>
        <p:spPr>
          <a:xfrm>
            <a:off x="457200" y="1280160"/>
            <a:ext cx="397764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limits"/>
          <p:cNvSpPr/>
          <p:nvPr/>
        </p:nvSpPr>
        <p:spPr>
          <a:xfrm>
            <a:off x="685800" y="1481328"/>
            <a:ext cx="548640" cy="54864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5" name="icon-limits" descr="lim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613002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81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8600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Payroll and payments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Legally binding e-signatures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Integrated video interviews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Background-check integrations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Production ML candidate ranking</a:t>
            </a:r>
            <a:endParaRPr lang="en-US" sz="1500" dirty="0"/>
          </a:p>
        </p:txBody>
      </p:sp>
      <p:sp>
        <p:nvSpPr>
          <p:cNvPr id="8" name="future-card"/>
          <p:cNvSpPr/>
          <p:nvPr/>
        </p:nvSpPr>
        <p:spPr>
          <a:xfrm>
            <a:off x="4709160" y="1280160"/>
            <a:ext cx="3977640" cy="3291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iconbg-future"/>
          <p:cNvSpPr/>
          <p:nvPr/>
        </p:nvSpPr>
        <p:spPr>
          <a:xfrm>
            <a:off x="4937760" y="1481328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con-future" descr="fu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434" y="1613002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481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8600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Run the full test suite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Durable shared file storage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Load and security testing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Resume parsing and matching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Document the deployed system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num-bg-0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258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Full-stack recruitment workflow across three roles using React, Express and MongoDB</a:t>
            </a:r>
            <a:endParaRPr lang="en-US" sz="1500" dirty="0"/>
          </a:p>
        </p:txBody>
      </p:sp>
      <p:sp>
        <p:nvSpPr>
          <p:cNvPr id="6" name="num-bg-1"/>
          <p:cNvSpPr/>
          <p:nvPr/>
        </p:nvSpPr>
        <p:spPr>
          <a:xfrm>
            <a:off x="457200" y="242316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774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Layered design with role-based access, validation and protected resume handling</a:t>
            </a:r>
            <a:endParaRPr lang="en-US" sz="1500" dirty="0"/>
          </a:p>
        </p:txBody>
      </p:sp>
      <p:sp>
        <p:nvSpPr>
          <p:cNvPr id="9" name="num-bg-2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290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Next: verify with real tests, durable storage, and load and security checks</a:t>
            </a:r>
            <a:endParaRPr lang="en-US" sz="1500" dirty="0"/>
          </a:p>
        </p:txBody>
      </p:sp>
      <p:sp>
        <p:nvSpPr>
          <p:cNvPr id="12" name="thanks-card"/>
          <p:cNvSpPr/>
          <p:nvPr/>
        </p:nvSpPr>
        <p:spPr>
          <a:xfrm>
            <a:off x="5852160" y="1280160"/>
            <a:ext cx="2834640" cy="32004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1737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Questions?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383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Ankit Vishwakarma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Roll No. 1230440011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bPortal">
  <a:themeElements>
    <a:clrScheme name="JobPortal">
      <a:dk1>
        <a:srgbClr val="1B2A41"/>
      </a:dk1>
      <a:lt1>
        <a:srgbClr val="FFFFFF"/>
      </a:lt1>
      <a:dk2>
        <a:srgbClr val="0B3C49"/>
      </a:dk2>
      <a:lt2>
        <a:srgbClr val="EAF3F4"/>
      </a:lt2>
      <a:accent1>
        <a:srgbClr val="0F8B8D"/>
      </a:accent1>
      <a:accent2>
        <a:srgbClr val="F2A541"/>
      </a:accent2>
      <a:accent3>
        <a:srgbClr val="324A5F"/>
      </a:accent3>
      <a:accent4>
        <a:srgbClr val="5FB3B3"/>
      </a:accent4>
      <a:accent5>
        <a:srgbClr val="D1495B"/>
      </a:accent5>
      <a:accent6>
        <a:srgbClr val="7A9E9F"/>
      </a:accent6>
      <a:hlink>
        <a:srgbClr val="0F8B8D"/>
      </a:hlink>
      <a:folHlink>
        <a:srgbClr val="7A9E9F"/>
      </a:folHlink>
    </a:clrScheme>
    <a:fontScheme name="JobPort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Portal / Recruitment Platform</dc:title>
  <dc:subject>PptxGenJS Presentation</dc:subject>
  <dc:creator>Ankit Vishwakarma</dc:creator>
  <cp:lastModifiedBy>Ankit Vishwakarma</cp:lastModifiedBy>
  <cp:revision>1</cp:revision>
  <dcterms:created xsi:type="dcterms:W3CDTF">2026-10-20T16:01:19Z</dcterms:created>
  <dcterms:modified xsi:type="dcterms:W3CDTF">2026-10-20T16:01:19Z</dcterms:modified>
</cp:coreProperties>
</file>